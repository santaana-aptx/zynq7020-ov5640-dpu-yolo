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125999"/>
            <a:ext cx="4680000" cy="79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</a:rPr>
              <a:t>Real-Time Object Detection on a Zynq-7020: From Camera to Browser in One Bitstream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B5C8A"/>
                </a:solidFill>
              </a:rPr>
              <a:t>OV5640 (DVP parallel)  -&gt;  custom capture RTL  -&gt;  Xilinx DPU / YOLOv3-tiny  -&gt;  live M-JPEG preview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>
                <a:solidFill>
                  <a:srgbClr val="555555"/>
                </a:solidFill>
              </a:rPr>
              <a:t>Zynq-7020 XC7Z020-2CLG400  |  DPU B1152  |  1025 x 720 @ 7.5 fps  |  nothing written to disk  |  MIT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71200"/>
            <a:ext cx="8496000" cy="16200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07999"/>
            <a:ext cx="2340000" cy="108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5C8A"/>
                </a:solidFill>
              </a:rPr>
              <a:t>WHY THIS, AND WHAT IS HARD ABOUT 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1A1A1A"/>
                </a:solidFill>
              </a:rPr>
              <a:t>Cloud inference is too slow and too bandwidth-hungry for edge vision, and a CPU cannot run a detection network in real time: the same network takes 125.5 ms on the fabric accelerator, versus an order of magnitude more on the dual Cortex-A9 (666 MHz). Putting the compute in the PL is the only way to fit the latency budget.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1835999"/>
            <a:ext cx="2340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5C8A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980000"/>
            <a:ext cx="2340000" cy="15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OV5640 -DVP-&gt; cam_top -AXIS-&gt; frame_writer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-HP3-&gt; DDR @ 0x08000000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RGB565  CDC FIFO  rolling write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             1025x720x2=1,476,000 B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                     | mmap /dev/mem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555555"/>
                </a:solidFill>
                <a:latin typeface="Consolas"/>
              </a:rPr>
              <a:t>        +---------------------v--------+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| cam_stream (ARM PS, C++)     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| two threads:                 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|  display  : frame -&gt; memcpy  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|             -&gt; draw -&gt; JPEG  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|  inference: letterbox -&gt;     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|             DPU 125.5 ms     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1A1A1A"/>
                </a:solidFill>
                <a:latin typeface="Consolas"/>
              </a:rPr>
              <a:t>        |  shared   : g_boxes + lock   |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50" b="0">
                <a:solidFill>
                  <a:srgbClr val="555555"/>
                </a:solidFill>
                <a:latin typeface="Consolas"/>
              </a:rPr>
              <a:t>        +------------------------------+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</a:rPr>
              <a:t>The IP's own constraint file uses set_multicycle_path 2, so dpu_2x_clk must be exactly 2x m_axi_dpu_aclk (200/100 MHz) — a functional assumption, not a timing preference.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" y="3348000"/>
            <a:ext cx="2340000" cy="21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5C8A"/>
                </a:solidFill>
              </a:rPr>
              <a:t>HOW CORRECTNESS IS ESTABLISHED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1A1A1A"/>
                </a:solidFill>
              </a:rPr>
              <a:t>- RTL simulation: fw_tb exercises pixel packing, rolling addressing and the AXI write handshake under randomised back-pressure — PASS, 1280 of 1280 beats, 0 errors.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1A1A1A"/>
                </a:solidFill>
              </a:rPr>
              <a:t>- Byte-exact golden comparison: the application runs the same image twice and compares the output buffers — identical=1 on 8 of 8 images. This single self-check catches both failure modes described on the right.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1A1A1A"/>
                </a:solidFill>
              </a:rPr>
              <a:t>- Standard-answer acceptance: 8 of 8 images hit the expected classes.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55555"/>
                </a:solidFill>
              </a:rPr>
              <a:t>Stated plainly: the simulation covers the custom RTL only — not the DPU internals, and not the PS-side software. The strongest correctness evidence is the golden comparison on real hardware.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1007999"/>
            <a:ext cx="2340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5C8A"/>
                </a:solidFill>
              </a:rPr>
              <a:t>MEASURED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80000" y="1152000"/>
          <a:ext cx="234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000"/>
                <a:gridCol w="1152000"/>
              </a:tblGrid>
              <a:tr h="154285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28800" marT="1800" marB="1800">
                    <a:solidFill>
                      <a:srgbClr val="0B5C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28800" marT="1800" marB="1800">
                    <a:solidFill>
                      <a:srgbClr val="0B5C8A"/>
                    </a:solidFill>
                  </a:tcPr>
                </a:tc>
              </a:tr>
              <a:tr h="154285"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Display resolution / frame rate</a:t>
                      </a:r>
                    </a:p>
                  </a:txBody>
                  <a:tcPr marL="28800" marT="1800" marB="1800"/>
                </a:tc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1025x720 | 7.4-7.5 fps (sensor limit)</a:t>
                      </a:r>
                    </a:p>
                  </a:txBody>
                  <a:tcPr marL="28800" marT="1800" marB="1800"/>
                </a:tc>
              </a:tr>
              <a:tr h="154285"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Detection box update rate</a:t>
                      </a:r>
                    </a:p>
                  </a:txBody>
                  <a:tcPr marL="28800" marT="1800" marB="1800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3.9 per second</a:t>
                      </a:r>
                    </a:p>
                  </a:txBody>
                  <a:tcPr marL="28800" marT="1800" marB="1800">
                    <a:solidFill>
                      <a:srgbClr val="F2F7FA"/>
                    </a:solidFill>
                  </a:tcPr>
                </a:tc>
              </a:tr>
              <a:tr h="154285"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DPU inference (letterbox + hw)</a:t>
                      </a:r>
                    </a:p>
                  </a:txBody>
                  <a:tcPr marL="28800" marT="1800" marB="1800"/>
                </a:tc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191 - 193 ms</a:t>
                      </a:r>
                    </a:p>
                  </a:txBody>
                  <a:tcPr marL="28800" marT="1800" marB="1800"/>
                </a:tc>
              </a:tr>
              <a:tr h="154285"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M-JPEG stream</a:t>
                      </a:r>
                    </a:p>
                  </a:txBody>
                  <a:tcPr marL="28800" marT="1800" marB="1800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377 KB/s, 52.8 KB per frame</a:t>
                      </a:r>
                    </a:p>
                  </a:txBody>
                  <a:tcPr marL="28800" marT="1800" marB="1800">
                    <a:solidFill>
                      <a:srgbClr val="F2F7FA"/>
                    </a:solidFill>
                  </a:tcPr>
                </a:tc>
              </a:tr>
              <a:tr h="154285"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Timing (WNS / WHS)</a:t>
                      </a:r>
                    </a:p>
                  </a:txBody>
                  <a:tcPr marL="28800" marT="1800" marB="1800"/>
                </a:tc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+0.718 / +0.051 ns, 0 failing</a:t>
                      </a:r>
                    </a:p>
                  </a:txBody>
                  <a:tcPr marL="28800" marT="1800" marB="1800"/>
                </a:tc>
              </a:tr>
              <a:tr h="154290"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Utilisation LUT/BRAM/DSP/Slice</a:t>
                      </a:r>
                    </a:p>
                  </a:txBody>
                  <a:tcPr marL="28800" marT="1800" marB="1800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80">
                          <a:solidFill>
                            <a:srgbClr val="1A1A1A"/>
                          </a:solidFill>
                        </a:rPr>
                        <a:t>70.2 / 88.2 / 96.4 / 98.2 %</a:t>
                      </a:r>
                    </a:p>
                  </a:txBody>
                  <a:tcPr marL="28800" marT="1800" marB="1800"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680000" y="2214000"/>
            <a:ext cx="2340000" cy="15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5C8A"/>
                </a:solidFill>
              </a:rPr>
              <a:t>PERFORMANCE: 2.4 -&gt; 7.5 fps, ZERO HW COST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1A1A1A"/>
                </a:solidFill>
              </a:rPr>
              <a:t>The display path needs only about 120 ms, so it could always run at the sensor's 7.5 fps. It ran at 2.4 fps because a 230 ms inference stage was serialised into the same loop.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600" b="0">
                <a:solidFill>
                  <a:srgbClr val="1A1A1A"/>
                </a:solidFill>
              </a:rPr>
              <a:t>Frame rate quantises:  T_total = ceil(T_proc / T_cam) x T_cam,  T_cam = 133.33 ms. So 340.6 ms and 327.8 ms both land on the same 400 ms step — micro-optimisation that removed 12.7 ms changed the frame rate by nothing at all.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1A1A1A"/>
                </a:solidFill>
              </a:rPr>
              <a:t>Splitting display and inference into two threads that share only the box coordinates restored it: same bitstream, same LUT / FF / BRAM / DSP, +208% frame rate at a resource cost of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3366000"/>
            <a:ext cx="2340000" cy="2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1">
                <a:solidFill>
                  <a:srgbClr val="0B5C8A"/>
                </a:solidFill>
              </a:rPr>
              <a:t>TWO HARD PROBLEMS, DIAGNOSED READ-ONLY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1A"/>
                </a:solidFill>
              </a:rPr>
              <a:t>1.  The accelerator refused the model — “DPU configuration mismatch”. Three Block Design switches were wrong, and the derivation was not guessed: it came from the IP's own generator file dpu_eu_v3_0.gtcl, which defines each feature in terms of those switches.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1A"/>
                </a:solidFill>
              </a:rPr>
              <a:t>2.  Output was non-deterministic — random classes, out-of-range boxes, a different answer every run. “identical=0” was the tell: configuration errors are stable, only clock/timing errors are random. The 2x clock sat at 150 MHz against a 100 MHz m_axi — not an integer multiple. An exact 200 MHz made the output byte-for-byte reproducible.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555555"/>
                </a:solidFill>
              </a:rPr>
              <a:t>Both were found with read-only probes, so neither cost a 50-minute bitstream rebuild.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4968000"/>
            <a:ext cx="8496000" cy="16200"/>
          </a:xfrm>
          <a:prstGeom prst="rect">
            <a:avLst/>
          </a:prstGeom>
          <a:solidFill>
            <a:srgbClr val="C8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5004000"/>
            <a:ext cx="8496000" cy="1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B5C8A"/>
                </a:solidFill>
              </a:rPr>
              <a:t>Open source under MIT:  github.com/SantaAna-aptx/zynq7020-ov5640-dpu-yolo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